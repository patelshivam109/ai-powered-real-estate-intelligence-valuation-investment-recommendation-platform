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914400" y="3840480"/>
            <a:ext cx="3200400" cy="32004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E8F4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Valuation &amp; Investment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8138160" cy="2286000"/>
          </a:xfrm>
          <a:prstGeom prst="round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365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90672"/>
            <a:ext cx="3566160" cy="438912"/>
          </a:xfrm>
          <a:prstGeom prst="roundRect">
            <a:avLst/>
          </a:prstGeom>
          <a:solidFill>
            <a:srgbClr val="0D1B2A"/>
          </a:solidFill>
          <a:ln w="10160">
            <a:solidFill>
              <a:srgbClr val="90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Shivam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Patel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374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Company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090672"/>
            <a:ext cx="3749039" cy="438912"/>
          </a:xfrm>
          <a:prstGeom prst="roundRect">
            <a:avLst/>
          </a:prstGeom>
          <a:solidFill>
            <a:srgbClr val="0D1B2A"/>
          </a:solidFill>
          <a:ln w="10160">
            <a:solidFill>
              <a:srgbClr val="90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Vidwan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67328"/>
            <a:ext cx="3566160" cy="438912"/>
          </a:xfrm>
          <a:prstGeom prst="roundRect">
            <a:avLst/>
          </a:prstGeom>
          <a:solidFill>
            <a:srgbClr val="0D1B2A"/>
          </a:solidFill>
          <a:ln w="10160">
            <a:solidFill>
              <a:srgbClr val="90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25/6/2026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90AFC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Presentation  •  Complete End-to-End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6032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Problem Statement &amp;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27432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325880" y="1371600"/>
            <a:ext cx="713232" cy="71323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2E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Investors struggle to determine if a property is overpriced or underpriced, and manually estimating future growth or risk is unreliable and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188720"/>
            <a:ext cx="27432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270248" y="1371600"/>
            <a:ext cx="713232" cy="71323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2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1568" y="2194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57860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2E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real estate industry generates massive property data every day — yet this data remains largely unstructured and unexploited by the average investor.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188720"/>
            <a:ext cx="27432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214616" y="1371600"/>
            <a:ext cx="713232" cy="7132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3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45936" y="2194560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57860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2E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AI-driven Real Estate Intelligence Platform that predicts prices, identifies risk, and delivers Buy / Hold / Sell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49808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smtClean="0">
                <a:solidFill>
                  <a:srgbClr val="90AFC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complete business intelligence ecosystem — far beyond price prediction.</a:t>
            </a:r>
            <a:endParaRPr sz="1300" b="0" dirty="0">
              <a:solidFill>
                <a:srgbClr val="90AFC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4114800" cy="160020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30352" y="175564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1830359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smtClean="0">
                <a:solidFill>
                  <a:srgbClr val="0D1B2A"/>
                </a:solidFill>
                <a:latin typeface="Times New Roman" panose="02020603050405020304" pitchFamily="18" charset="0"/>
              </a:rPr>
              <a:t>01</a:t>
            </a:r>
            <a:endParaRPr sz="14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" y="1408176"/>
            <a:ext cx="3182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92224"/>
            <a:ext cx="31821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Six algorithms trained and compared for maximum price prediction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80160"/>
            <a:ext cx="4114800" cy="160020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65192" y="175564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65192" y="1830359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smtClean="0">
                <a:solidFill>
                  <a:srgbClr val="0D1B2A"/>
                </a:solidFill>
                <a:latin typeface="Times New Roman" panose="02020603050405020304" pitchFamily="18" charset="0"/>
              </a:rPr>
              <a:t>02</a:t>
            </a:r>
            <a:endParaRPr sz="14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50408" y="1408176"/>
            <a:ext cx="3182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 / SHAP)</a:t>
            </a:r>
            <a:endParaRPr sz="1300" b="1" i="0" dirty="0">
              <a:solidFill>
                <a:srgbClr val="00B4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50408" y="1792224"/>
            <a:ext cx="31821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Full global and local </a:t>
            </a:r>
            <a:r>
              <a:rPr sz="11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explainability</a:t>
            </a:r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 — every prediction justified.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08960"/>
            <a:ext cx="4114800" cy="160020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0352" y="358444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" y="3659159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236976"/>
            <a:ext cx="3182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Dynamic Risk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621024"/>
            <a:ext cx="31821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Crime, age, volatility, and demand trends merged into a composite risk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063240"/>
            <a:ext cx="4114800" cy="160020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965192" y="358444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5192" y="3666112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0408" y="3236976"/>
            <a:ext cx="3182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B4D8"/>
                </a:solidFill>
                <a:latin typeface="Times New Roman" panose="02020603050405020304" pitchFamily="18" charset="0"/>
              </a:rPr>
              <a:t>Streamlit</a:t>
            </a:r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621024"/>
            <a:ext cx="31821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Production-ready interactive app for real-time investor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Methodology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24912"/>
            <a:ext cx="7680960" cy="45720"/>
          </a:xfrm>
          <a:prstGeom prst="rect">
            <a:avLst/>
          </a:prstGeom>
          <a:solidFill>
            <a:srgbClr val="90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95528" y="2505456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78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15,000+ records</a:t>
            </a:r>
          </a:p>
        </p:txBody>
      </p:sp>
      <p:sp>
        <p:nvSpPr>
          <p:cNvPr id="12" name="Oval 11"/>
          <p:cNvSpPr/>
          <p:nvPr/>
        </p:nvSpPr>
        <p:spPr>
          <a:xfrm>
            <a:off x="2212848" y="2505456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848" y="2588067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7510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Data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IQR, Z-score</a:t>
            </a:r>
          </a:p>
        </p:txBody>
      </p:sp>
      <p:sp>
        <p:nvSpPr>
          <p:cNvPr id="18" name="Oval 17"/>
          <p:cNvSpPr/>
          <p:nvPr/>
        </p:nvSpPr>
        <p:spPr>
          <a:xfrm>
            <a:off x="3630168" y="2505456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0168" y="260131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9242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2EC4B6"/>
                </a:solidFill>
                <a:latin typeface="Times New Roman" panose="02020603050405020304" pitchFamily="18" charset="0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Distributions</a:t>
            </a:r>
          </a:p>
        </p:txBody>
      </p:sp>
      <p:sp>
        <p:nvSpPr>
          <p:cNvPr id="24" name="Oval 23"/>
          <p:cNvSpPr/>
          <p:nvPr/>
        </p:nvSpPr>
        <p:spPr>
          <a:xfrm>
            <a:off x="5047488" y="2505456"/>
            <a:ext cx="457200" cy="457200"/>
          </a:xfrm>
          <a:prstGeom prst="ellipse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47488" y="2591851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7316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974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077A8"/>
                </a:solidFill>
                <a:latin typeface="Times New Roman" panose="02020603050405020304" pitchFamily="18" charset="0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Feature Eng.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Encode &amp; Scale</a:t>
            </a:r>
          </a:p>
        </p:txBody>
      </p:sp>
      <p:sp>
        <p:nvSpPr>
          <p:cNvPr id="30" name="Oval 29"/>
          <p:cNvSpPr/>
          <p:nvPr/>
        </p:nvSpPr>
        <p:spPr>
          <a:xfrm>
            <a:off x="6464808" y="2505456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83096" y="2591851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706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7B2FBE"/>
                </a:solidFill>
                <a:latin typeface="Times New Roman" panose="02020603050405020304" pitchFamily="18" charset="0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Model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06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6 algorithms</a:t>
            </a:r>
          </a:p>
        </p:txBody>
      </p:sp>
      <p:sp>
        <p:nvSpPr>
          <p:cNvPr id="36" name="Oval 35"/>
          <p:cNvSpPr/>
          <p:nvPr/>
        </p:nvSpPr>
        <p:spPr>
          <a:xfrm>
            <a:off x="7882128" y="2505456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92849" y="258775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07808" y="1097280"/>
            <a:ext cx="129844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44384" y="1152144"/>
            <a:ext cx="1225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Phase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4" y="1399032"/>
            <a:ext cx="1225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XAI &amp;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4384" y="1901952"/>
            <a:ext cx="1225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SHAP + BHS logic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03320"/>
            <a:ext cx="8229600" cy="1078992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3822191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F4FD"/>
                </a:solidFill>
                <a:latin typeface="Times New Roman" panose="02020603050405020304" pitchFamily="18" charset="0"/>
              </a:rPr>
              <a:t>Structured CRISP-DM lifecycle — each phase feeds the next with validated, high-quality outputs, ensuring the final deployed model is production-ready.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Data Collection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22860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28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15,000+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28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Property Records
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960120"/>
            <a:ext cx="5852160" cy="822960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6160" y="103327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Kaggle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, Housing.com, 99acres &amp; more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920240"/>
            <a:ext cx="5852160" cy="822960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99339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Mean/Median imputation; Mode for categorical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880360"/>
            <a:ext cx="5852160" cy="822960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95351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Duplicate Removal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Unique property listings via composite 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840480"/>
            <a:ext cx="5852160" cy="822960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391363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Outlier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0624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IQR and Z-score removal for model stability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83280"/>
            <a:ext cx="2286000" cy="749808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3561588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Clean Data = High R²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841248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30352" y="1316736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01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8448" y="1225295"/>
            <a:ext cx="7223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Univariate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72768"/>
            <a:ext cx="722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Analyzed Price distribution — found strong right skew requiring log transformation for model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50008"/>
            <a:ext cx="841248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30352" y="2551176"/>
            <a:ext cx="640080" cy="6400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8448" y="2459736"/>
            <a:ext cx="7223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07208"/>
            <a:ext cx="722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Mapped Area vs Price and BHK vs Price — confirmed positive correlations with significant locality variance.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584448"/>
            <a:ext cx="841248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30352" y="3785615"/>
            <a:ext cx="640080" cy="6400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03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8448" y="3694176"/>
            <a:ext cx="7223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41648"/>
            <a:ext cx="722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Correlation matrices and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heatmaps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 identified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multicollinearity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 (e.g., BHK ↔ Bathrooms, r=0.78).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17720"/>
            <a:ext cx="8412480" cy="438912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2" y="4690872"/>
            <a:ext cx="79552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Key Insight: Location (</a:t>
            </a:r>
            <a:r>
              <a:rPr sz="1100" b="1" i="0" dirty="0" err="1">
                <a:solidFill>
                  <a:srgbClr val="00B4D8"/>
                </a:solidFill>
                <a:latin typeface="Times New Roman" panose="02020603050405020304" pitchFamily="18" charset="0"/>
              </a:rPr>
              <a:t>Pincode</a:t>
            </a:r>
            <a:r>
              <a:rPr sz="11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) and Area are the strongest price determinants across the entire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8321040" cy="694944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" y="1124712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78052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ENCODE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014984"/>
            <a:ext cx="6675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Label &amp; One-Hot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075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Categorical variables (Locality, City, Furnished Status) transformed for ML compatibility.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64792"/>
            <a:ext cx="8321040" cy="694944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5488" y="1929384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19656"/>
            <a:ext cx="6675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Min-Max &amp; Standard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12264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Continuous features </a:t>
            </a:r>
            <a:r>
              <a:rPr sz="1200" b="0" i="0" dirty="0" err="1">
                <a:solidFill>
                  <a:srgbClr val="90AFC5"/>
                </a:solidFill>
                <a:latin typeface="Times New Roman" panose="02020603050405020304" pitchFamily="18" charset="0"/>
              </a:rPr>
              <a:t>normalised</a:t>
            </a:r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 to prevent magnitude bias in distance-based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69464"/>
            <a:ext cx="8321040" cy="694944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5488" y="2734056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" y="2801112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6675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New Features 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16936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Distance to amenities, Infrastructure Growth Score, Floor Ratio, Composite Risk Index.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74136"/>
            <a:ext cx="8321040" cy="694944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3538728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" y="3593592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29000"/>
            <a:ext cx="6675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Log Target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721608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Applied log() to Price to address right skew and improve gradient descent convergence.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78808"/>
            <a:ext cx="8321040" cy="694944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75488" y="4343400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" y="4390644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233672"/>
            <a:ext cx="6675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Tree-Based Feature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526280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Bottom 10% importance features pruned — final set: 28 high-signal features retained.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" y="1225295"/>
            <a:ext cx="1005840" cy="27432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5488" y="1225295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9105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11680"/>
            <a:ext cx="252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Establishes minimum acceptable R²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11556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19856" y="1225295"/>
            <a:ext cx="1005840" cy="27432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64408" y="1239344"/>
            <a:ext cx="13167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smtClean="0">
                <a:solidFill>
                  <a:srgbClr val="FFFFFF"/>
                </a:solidFill>
                <a:latin typeface="Times New Roman" panose="02020603050405020304" pitchFamily="18" charset="0"/>
              </a:rPr>
              <a:t>Ensemble Bagging</a:t>
            </a:r>
            <a:endParaRPr sz="10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856" y="159105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011680"/>
            <a:ext cx="252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Bootstrap sampling, robust to overfitting.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11556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4224" y="1225295"/>
            <a:ext cx="1005840" cy="2743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6396" y="1225295"/>
            <a:ext cx="130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smtClean="0">
                <a:solidFill>
                  <a:srgbClr val="FFFFFF"/>
                </a:solidFill>
                <a:latin typeface="Times New Roman" panose="02020603050405020304" pitchFamily="18" charset="0"/>
              </a:rPr>
              <a:t>Sequential Trees</a:t>
            </a:r>
            <a:endParaRPr sz="10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4224" y="159105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011680"/>
            <a:ext cx="25237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smtClean="0">
                <a:solidFill>
                  <a:srgbClr val="1A2E45"/>
                </a:solidFill>
                <a:latin typeface="Times New Roman" panose="02020603050405020304" pitchFamily="18" charset="0"/>
              </a:rPr>
              <a:t>Residual error correction at each step.</a:t>
            </a:r>
            <a:endParaRPr sz="1200" b="0" i="0" dirty="0">
              <a:solidFill>
                <a:srgbClr val="1A2E4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5760" y="303580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3145536"/>
            <a:ext cx="100584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" y="3145536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Regularised</a:t>
            </a:r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51129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D1B2A"/>
                </a:solidFill>
                <a:latin typeface="Times New Roman" panose="02020603050405020304" pitchFamily="18" charset="0"/>
              </a:rPr>
              <a:t>XGBoost</a:t>
            </a:r>
            <a:endParaRPr sz="13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" y="3931920"/>
            <a:ext cx="252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L1/L2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regularisation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, parallel computation.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03580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19856" y="3145536"/>
            <a:ext cx="100584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19856" y="3145536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smtClean="0">
                <a:solidFill>
                  <a:srgbClr val="FFFFFF"/>
                </a:solidFill>
                <a:latin typeface="Times New Roman" panose="02020603050405020304" pitchFamily="18" charset="0"/>
              </a:rPr>
              <a:t>Leaf-Wise GB</a:t>
            </a:r>
            <a:endParaRPr sz="10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19856" y="351129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D1B2A"/>
                </a:solidFill>
                <a:latin typeface="Times New Roman" panose="02020603050405020304" pitchFamily="18" charset="0"/>
              </a:rPr>
              <a:t>LightGBM</a:t>
            </a:r>
            <a:endParaRPr sz="13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19856" y="3931920"/>
            <a:ext cx="25237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Fast training on large datasets.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035808"/>
            <a:ext cx="274320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364224" y="3145536"/>
            <a:ext cx="1005840" cy="2743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63056" y="3145536"/>
            <a:ext cx="1408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Native Categorical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511296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D1B2A"/>
                </a:solidFill>
                <a:latin typeface="Times New Roman" panose="02020603050405020304" pitchFamily="18" charset="0"/>
              </a:rPr>
              <a:t>CatBoost</a:t>
            </a:r>
            <a:endParaRPr sz="13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64224" y="3931920"/>
            <a:ext cx="252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No pre-encoding needed — best performer.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01168"/>
            <a:ext cx="685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Model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4224070" cy="47548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CatBoost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109728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R²=0.9239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91056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1591056"/>
            <a:ext cx="4209440" cy="47548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LightGBM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1682496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R²=0.9207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76272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2176272"/>
            <a:ext cx="4185665" cy="475488"/>
          </a:xfrm>
          <a:prstGeom prst="round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XGBoost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267712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R²=0.9155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61488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2761488"/>
            <a:ext cx="4176064" cy="475488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285292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Grad. 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52928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R²=0.9134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46704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346704"/>
            <a:ext cx="4024274" cy="47548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343814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Rnd</a:t>
            </a: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3814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R²=0.8802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931920"/>
            <a:ext cx="5303520" cy="475488"/>
          </a:xfrm>
          <a:prstGeom prst="round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3320643" cy="47548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402336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Linear </a:t>
            </a:r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Reg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00400" y="402336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R²=0.7263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005840"/>
            <a:ext cx="2834640" cy="20116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0" y="109728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🏆  WINNER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50876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>
                <a:solidFill>
                  <a:srgbClr val="0D1B2A"/>
                </a:solidFill>
                <a:latin typeface="Times New Roman" panose="02020603050405020304" pitchFamily="18" charset="0"/>
              </a:rPr>
              <a:t>CatBoost</a:t>
            </a:r>
            <a:endParaRPr sz="2800" b="1" i="0" dirty="0">
              <a:solidFill>
                <a:srgbClr val="0D1B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0" y="2121408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0D1B2A"/>
                </a:solidFill>
                <a:latin typeface="Times New Roman" panose="02020603050405020304" pitchFamily="18" charset="0"/>
              </a:rPr>
              <a:t>R² = 0.9239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87168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0D1B2A"/>
                </a:solidFill>
                <a:latin typeface="Times New Roman" panose="02020603050405020304" pitchFamily="18" charset="0"/>
              </a:rPr>
              <a:t>MAE = ₹60,713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154680"/>
            <a:ext cx="2834640" cy="182880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89320" y="318211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18211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R²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18211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MAE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45643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CatBoost</a:t>
            </a:r>
            <a:endParaRPr sz="95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0" y="345643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0.9239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45643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60,713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373075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LightGBM</a:t>
            </a:r>
            <a:endParaRPr sz="95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223760" y="373075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0.9207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73075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61,886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00507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XGBoost</a:t>
            </a:r>
            <a:endParaRPr sz="95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23760" y="400507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0.9155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00507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61,453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27939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Grad.Boost</a:t>
            </a:r>
            <a:endParaRPr sz="95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23760" y="427939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0.9134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427939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64,571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553712"/>
            <a:ext cx="11887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Linear </a:t>
            </a:r>
            <a:r>
              <a:rPr sz="95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Reg</a:t>
            </a:r>
            <a:endParaRPr sz="95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23760" y="4553712"/>
            <a:ext cx="7315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0.7263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4553712"/>
            <a:ext cx="822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106,893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CatBoost</a:t>
            </a:r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: Selected as Best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514600" cy="3703320"/>
          </a:xfrm>
          <a:prstGeom prst="roundRect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00B4D8"/>
                </a:solidFill>
                <a:latin typeface="Times New Roman" panose="02020603050405020304" pitchFamily="18" charset="0"/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514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0.9239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5146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92.4%
Variance
Explained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224028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3799664"/>
            <a:ext cx="2240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DEPLOYED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097280"/>
            <a:ext cx="56692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246120" y="118872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01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68496" y="117043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Highest R²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481328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0.9239 — best across all six algorithms evaluated.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011680"/>
            <a:ext cx="56692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246120" y="210312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8496" y="208483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Native Categorical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2395728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Locality, City, and Type handled natively.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926080"/>
            <a:ext cx="56692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246120" y="301752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03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8496" y="299923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Robust Against Overfitting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3310128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Ordered boosting + symmetric trees provide natural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regularisation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840480"/>
            <a:ext cx="56692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246120" y="393192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04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68496" y="391363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Production Inference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224528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Deployed as the core model powering the live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Streamlit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Explainable AI — SHAP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160520" cy="3886200"/>
          </a:xfrm>
          <a:prstGeom prst="roundRect">
            <a:avLst/>
          </a:prstGeom>
          <a:solidFill>
            <a:srgbClr val="1A2E45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8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7B2FBE"/>
                </a:solidFill>
                <a:latin typeface="Times New Roman" panose="02020603050405020304" pitchFamily="18" charset="0"/>
              </a:rPr>
              <a:t>GLOBAL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Top Feature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Base Area (</a:t>
            </a:r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sq.ft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837943"/>
            <a:ext cx="1554480" cy="1828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24912" y="1837943"/>
            <a:ext cx="1367942" cy="1828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11726" y="1805940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Locality / </a:t>
            </a:r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Pincode</a:t>
            </a:r>
            <a:endParaRPr sz="1200" b="0" i="0" dirty="0">
              <a:solidFill>
                <a:srgbClr val="E8F4F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24912" y="2386584"/>
            <a:ext cx="1554480" cy="1828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24912" y="2386584"/>
            <a:ext cx="1274673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06240" y="2347722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89504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Property 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2935224"/>
            <a:ext cx="1554480" cy="1828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24912" y="2935224"/>
            <a:ext cx="1010412" cy="1828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32148" y="2897884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Metro Distance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3483863"/>
            <a:ext cx="1554480" cy="1828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24912" y="3483863"/>
            <a:ext cx="839419" cy="18288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11726" y="3456432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86783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Amenity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4912" y="4032503"/>
            <a:ext cx="1554480" cy="1828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724912" y="4032503"/>
            <a:ext cx="715060" cy="18288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9194" y="3986783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46%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960120"/>
            <a:ext cx="4069080" cy="3886200"/>
          </a:xfrm>
          <a:prstGeom prst="roundRect">
            <a:avLst/>
          </a:prstGeom>
          <a:solidFill>
            <a:srgbClr val="1A2E4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0" y="1051560"/>
            <a:ext cx="3794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LOCAL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37160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Sample Property Breakdown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8032" y="1783080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37760" y="1837943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Base Value (</a:t>
            </a:r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avg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837943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90AFC5"/>
                </a:solidFill>
                <a:latin typeface="Times New Roman" panose="02020603050405020304" pitchFamily="18" charset="0"/>
              </a:rPr>
              <a:t>₹62.4L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8032" y="2258568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37760" y="2313432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Premium Locality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313432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EC4B6"/>
                </a:solidFill>
                <a:latin typeface="Times New Roman" panose="02020603050405020304" pitchFamily="18" charset="0"/>
              </a:rPr>
              <a:t>+₹18.5L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28032" y="2734056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37760" y="278892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Large Area (1,650 </a:t>
            </a:r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sqft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788920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EC4B6"/>
                </a:solidFill>
                <a:latin typeface="Times New Roman" panose="02020603050405020304" pitchFamily="18" charset="0"/>
              </a:rPr>
              <a:t>+₹12.3L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28032" y="3209544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37760" y="326440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New Construction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264408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EC4B6"/>
                </a:solidFill>
                <a:latin typeface="Times New Roman" panose="02020603050405020304" pitchFamily="18" charset="0"/>
              </a:rPr>
              <a:t>+₹5.8L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28032" y="3685032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37760" y="3739896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Metro Proximity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739896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+₹4.2L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28032" y="4160520"/>
            <a:ext cx="3749039" cy="38404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60" y="4215383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High Crime Index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215383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E63946"/>
                </a:solidFill>
                <a:latin typeface="Times New Roman" panose="02020603050405020304" pitchFamily="18" charset="0"/>
              </a:rPr>
              <a:t>−₹2.1L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345" y="4558284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Final Predicted Price: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5" y="4559807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₹1.01 Cr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Risk Assessment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15568"/>
            <a:ext cx="42062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02920" y="1298448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01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243584"/>
            <a:ext cx="3154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Crime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27632"/>
            <a:ext cx="315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Locality-level crime rate per 100,000 residents directly weighted in risk composite.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115568"/>
            <a:ext cx="42062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029200" y="1298448"/>
            <a:ext cx="640080" cy="6400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1243584"/>
            <a:ext cx="3154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Property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627632"/>
            <a:ext cx="315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Older properties score higher risk — structural depreciation and maintenance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44368"/>
            <a:ext cx="42062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2920" y="3127248"/>
            <a:ext cx="640080" cy="64008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03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072384"/>
            <a:ext cx="3154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Market 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56432"/>
            <a:ext cx="315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Historical price variance over 3-year window indicates stability or speculative swings.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944368"/>
            <a:ext cx="42062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29200" y="3127248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</a:rPr>
              <a:t>04</a:t>
            </a: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6440" y="3072384"/>
            <a:ext cx="3154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Demand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456432"/>
            <a:ext cx="315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Days-on-market &amp; listing velocity signal buyer demand relative to current supply.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81728"/>
            <a:ext cx="2834640" cy="4114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4768596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LOW RISK  ·  Safe Investment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681728"/>
            <a:ext cx="2834640" cy="4114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37560" y="475488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MEDIUM RISK  ·  Requires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681728"/>
            <a:ext cx="2834640" cy="41148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9360" y="4750308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HIGH RISK  ·  Speculative / Avoid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Investment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68096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90AFC5"/>
                </a:solidFill>
                <a:latin typeface="Times New Roman" panose="02020603050405020304" pitchFamily="18" charset="0"/>
              </a:rPr>
              <a:t>Business rules applied on top of AI predictions — turning raw scores into investor-ready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70432"/>
            <a:ext cx="2743200" cy="3657600"/>
          </a:xfrm>
          <a:prstGeom prst="roundRect">
            <a:avLst/>
          </a:prstGeom>
          <a:solidFill>
            <a:srgbClr val="1A2E45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2377440" cy="59436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6636" y="1330452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High ROI potential (5-yr ROI &gt; 35%)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Risk Score: Low or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7355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Property undervalued vs AI fair value (&gt;10%)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170432"/>
            <a:ext cx="2743200" cy="3657600"/>
          </a:xfrm>
          <a:prstGeom prst="roundRect">
            <a:avLst/>
          </a:prstGeom>
          <a:solidFill>
            <a:srgbClr val="1A2E45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47288" y="1261872"/>
            <a:ext cx="2377440" cy="5943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7288" y="1319784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99339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Medium ROI (15–35%)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3347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Risk Score: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27355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Property within ±10% of AI fair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170432"/>
            <a:ext cx="2743200" cy="3657600"/>
          </a:xfrm>
          <a:prstGeom prst="roundRect">
            <a:avLst/>
          </a:prstGeom>
          <a:solidFill>
            <a:srgbClr val="1A2E4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91656" y="1261872"/>
            <a:ext cx="2377440" cy="59436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83096" y="1330452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99339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Low ROI (&lt; 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628900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Risk Score: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27355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✓  Property overvalued vs AI fair value (&gt;10%)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Future Price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822960" cy="1523999"/>
          </a:xfrm>
          <a:prstGeom prst="roundRect">
            <a:avLst/>
          </a:prstGeom>
          <a:solidFill>
            <a:srgbClr val="90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7678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75887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935479"/>
            <a:ext cx="822960" cy="16764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16154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75887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1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554479"/>
            <a:ext cx="822960" cy="2057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6080" y="12344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75887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3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051560"/>
            <a:ext cx="822960" cy="256032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0" y="731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168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75887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5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051560"/>
            <a:ext cx="3291840" cy="104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41848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1-Year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1435607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~10%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658926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Near-term signal for short-flip or rental strategy.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2203704"/>
            <a:ext cx="3291840" cy="104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41848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3-Year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2587752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~35%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2824078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Metro &amp; infrastructure completions drive mid-cycle gains.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355848"/>
            <a:ext cx="3291840" cy="104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41848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5-Year 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3739896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C4B6"/>
                </a:solidFill>
                <a:latin typeface="Times New Roman" panose="02020603050405020304" pitchFamily="18" charset="0"/>
              </a:rPr>
              <a:t>~68%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3954886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Long-cycle demographic &amp; </a:t>
            </a:r>
            <a:r>
              <a:rPr sz="1200" b="0" i="0" dirty="0" err="1">
                <a:solidFill>
                  <a:srgbClr val="1A2E45"/>
                </a:solidFill>
                <a:latin typeface="Times New Roman" panose="02020603050405020304" pitchFamily="18" charset="0"/>
              </a:rPr>
              <a:t>urbanisation</a:t>
            </a:r>
            <a:r>
              <a:rPr sz="1200" b="0" i="0" dirty="0">
                <a:solidFill>
                  <a:srgbClr val="1A2E45"/>
                </a:solidFill>
                <a:latin typeface="Times New Roman" panose="02020603050405020304" pitchFamily="18" charset="0"/>
              </a:rPr>
              <a:t> appreciation.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81728"/>
            <a:ext cx="8412480" cy="384048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700016"/>
            <a:ext cx="7955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F4FD"/>
                </a:solidFill>
                <a:latin typeface="Times New Roman" panose="02020603050405020304" pitchFamily="18" charset="0"/>
              </a:rPr>
              <a:t>All forecasts generated from </a:t>
            </a:r>
            <a:r>
              <a:rPr sz="1200" b="0" i="1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CatBoost</a:t>
            </a:r>
            <a:r>
              <a:rPr sz="1200" b="0" i="1" dirty="0">
                <a:solidFill>
                  <a:srgbClr val="E8F4FD"/>
                </a:solidFill>
                <a:latin typeface="Times New Roman" panose="02020603050405020304" pitchFamily="18" charset="0"/>
              </a:rPr>
              <a:t>-predicted current fair value × locality-specific historical growth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Interactive </a:t>
            </a:r>
            <a:r>
              <a:rPr sz="2400" b="1" i="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Streamlit</a:t>
            </a:r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68096"/>
            <a:ext cx="685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90AFC5"/>
                </a:solidFill>
                <a:latin typeface="Times New Roman" panose="02020603050405020304" pitchFamily="18" charset="0"/>
              </a:rPr>
              <a:t>Production-ready 9-page application — accessible to both technical and non-technical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15568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2920" y="1426464"/>
            <a:ext cx="420624" cy="42062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99615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115568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447288" y="1426464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7288" y="1505711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1463040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EDA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115568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391656" y="1426464"/>
            <a:ext cx="420624" cy="42062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9944" y="1505711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463040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Price 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377439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2920" y="2688335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" y="2759962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724911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Investment Rec.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2377439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3447288" y="2688335"/>
            <a:ext cx="420624" cy="420624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2758440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2724911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Risk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377439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391656" y="2688335"/>
            <a:ext cx="420624" cy="420624"/>
          </a:xfrm>
          <a:prstGeom prst="ellipse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2512" y="2782823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2724911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Future Forecasts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639311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02920" y="3950207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4027932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3986783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Explainable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3639311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447288" y="3950207"/>
            <a:ext cx="420624" cy="42062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47288" y="4038599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8496" y="3986783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Property Compare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4496" y="3639311"/>
            <a:ext cx="2743200" cy="10972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91656" y="3950207"/>
            <a:ext cx="420624" cy="42062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82512" y="4038599"/>
            <a:ext cx="420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P9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3986783"/>
            <a:ext cx="1993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F4FD"/>
                </a:solidFill>
                <a:latin typeface="Times New Roman" panose="02020603050405020304" pitchFamily="18" charset="0"/>
              </a:rPr>
              <a:t>Market Insights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681728"/>
            <a:ext cx="8412480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4360" y="4700016"/>
            <a:ext cx="7955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+ Integrated AI Chat Assistant — natural language queries across all platform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097280" y="3657600"/>
            <a:ext cx="3200400" cy="32004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</a:rPr>
              <a:t>Conclusion &amp;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0B4D8"/>
                </a:solidFill>
                <a:latin typeface="Times New Roman" panose="02020603050405020304" pitchFamily="18" charset="0"/>
              </a:rPr>
              <a:t>ACHIEVEMENTS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61872"/>
            <a:ext cx="4663440" cy="658368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2920" y="1389888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64" y="1444752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16736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Holistic AI-powered platform built end-to-end and production-deployed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11679"/>
            <a:ext cx="4663440" cy="658368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2920" y="2139696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4271" y="2209063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66543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CatBoost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 model: exceptional R² = 0.9239 (92.4% price variance explained)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61487"/>
            <a:ext cx="4663440" cy="658368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02920" y="288950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271" y="2936170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16352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SHAP </a:t>
            </a:r>
            <a:r>
              <a:rPr sz="1200" b="0" i="0" dirty="0" err="1">
                <a:solidFill>
                  <a:srgbClr val="E8F4FD"/>
                </a:solidFill>
                <a:latin typeface="Times New Roman" panose="02020603050405020304" pitchFamily="18" charset="0"/>
              </a:rPr>
              <a:t>explainability</a:t>
            </a:r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: every prediction is transparent and investor-justified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11296"/>
            <a:ext cx="4663440" cy="658368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02920" y="3639312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4271" y="371246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D"/>
                </a:solidFill>
                <a:latin typeface="Times New Roman" panose="02020603050405020304" pitchFamily="18" charset="0"/>
              </a:rPr>
              <a:t>Buy / Hold / Sell engine grounded in quantitative financial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932688"/>
            <a:ext cx="3611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1261872"/>
            <a:ext cx="3657600" cy="694944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340096" y="1408175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40096" y="1463039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131673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Real-Time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1488346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smtClean="0">
                <a:solidFill>
                  <a:srgbClr val="90AFC5"/>
                </a:solidFill>
                <a:latin typeface="Times New Roman" panose="02020603050405020304" pitchFamily="18" charset="0"/>
              </a:rPr>
              <a:t>Live feeds from 99acres, </a:t>
            </a:r>
            <a:r>
              <a:rPr sz="1200" b="0" i="0" dirty="0" err="1" smtClean="0">
                <a:solidFill>
                  <a:srgbClr val="90AFC5"/>
                </a:solidFill>
                <a:latin typeface="Times New Roman" panose="02020603050405020304" pitchFamily="18" charset="0"/>
              </a:rPr>
              <a:t>MagicBricks</a:t>
            </a:r>
            <a:r>
              <a:rPr sz="1200" b="0" i="0" dirty="0" smtClean="0">
                <a:solidFill>
                  <a:srgbClr val="90AFC5"/>
                </a:solidFill>
                <a:latin typeface="Times New Roman" panose="02020603050405020304" pitchFamily="18" charset="0"/>
              </a:rPr>
              <a:t>, </a:t>
            </a:r>
            <a:r>
              <a:rPr sz="1200" b="0" i="0" dirty="0" err="1" smtClean="0">
                <a:solidFill>
                  <a:srgbClr val="90AFC5"/>
                </a:solidFill>
                <a:latin typeface="Times New Roman" panose="02020603050405020304" pitchFamily="18" charset="0"/>
              </a:rPr>
              <a:t>NoBroker</a:t>
            </a:r>
            <a:endParaRPr sz="1200" b="0" i="0" dirty="0">
              <a:solidFill>
                <a:srgbClr val="90AFC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212080" y="2039112"/>
            <a:ext cx="3657600" cy="694944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340096" y="2185416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58384" y="2231135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3872" y="209397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Geospatial Deep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3872" y="2272391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Satellite imagery for </a:t>
            </a:r>
            <a:r>
              <a:rPr sz="1200" b="0" i="0" dirty="0" err="1">
                <a:solidFill>
                  <a:srgbClr val="90AFC5"/>
                </a:solidFill>
                <a:latin typeface="Times New Roman" panose="02020603050405020304" pitchFamily="18" charset="0"/>
              </a:rPr>
              <a:t>neighbourhood</a:t>
            </a:r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 quality scoring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816352"/>
            <a:ext cx="3657600" cy="694944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340096" y="2962656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58384" y="300380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3872" y="287121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Enhanced NLP </a:t>
            </a:r>
            <a:r>
              <a:rPr sz="1100" b="1" i="0" dirty="0" err="1">
                <a:solidFill>
                  <a:srgbClr val="F4A261"/>
                </a:solidFill>
                <a:latin typeface="Times New Roman" panose="02020603050405020304" pitchFamily="18" charset="0"/>
              </a:rPr>
              <a:t>Chatbot</a:t>
            </a:r>
            <a:endParaRPr sz="1100" b="1" i="0" dirty="0">
              <a:solidFill>
                <a:srgbClr val="F4A2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33872" y="3061008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LLM fine-tuned on real estate investment research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3593591"/>
            <a:ext cx="3657600" cy="694944"/>
          </a:xfrm>
          <a:prstGeom prst="roundRect">
            <a:avLst/>
          </a:prstGeom>
          <a:solidFill>
            <a:srgbClr val="1A2E45"/>
          </a:solidFill>
          <a:ln w="1016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340096" y="3739896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67528" y="3776471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36484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4A261"/>
                </a:solidFill>
                <a:latin typeface="Times New Roman" panose="02020603050405020304" pitchFamily="18" charset="0"/>
              </a:rPr>
              <a:t>Portfolio </a:t>
            </a:r>
            <a:r>
              <a:rPr sz="1100" b="1" i="0" dirty="0" err="1">
                <a:solidFill>
                  <a:srgbClr val="F4A261"/>
                </a:solidFill>
                <a:latin typeface="Times New Roman" panose="02020603050405020304" pitchFamily="18" charset="0"/>
              </a:rPr>
              <a:t>Optimisation</a:t>
            </a:r>
            <a:endParaRPr sz="1100" b="1" i="0" dirty="0">
              <a:solidFill>
                <a:srgbClr val="F4A2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18737" y="3856536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Capital allocation to </a:t>
            </a:r>
            <a:r>
              <a:rPr sz="1200" b="0" i="0" dirty="0" err="1">
                <a:solidFill>
                  <a:srgbClr val="90AFC5"/>
                </a:solidFill>
                <a:latin typeface="Times New Roman" panose="02020603050405020304" pitchFamily="18" charset="0"/>
              </a:rPr>
              <a:t>maximise</a:t>
            </a:r>
            <a:r>
              <a:rPr sz="1200" b="0" i="0" dirty="0">
                <a:solidFill>
                  <a:srgbClr val="90AFC5"/>
                </a:solidFill>
                <a:latin typeface="Times New Roman" panose="02020603050405020304" pitchFamily="18" charset="0"/>
              </a:rPr>
              <a:t> risk-adjusted ROI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0" y="4663440"/>
            <a:ext cx="5852160" cy="38404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45920" y="4663440"/>
            <a:ext cx="5852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  <a:latin typeface="Times New Roman" panose="02020603050405020304" pitchFamily="18" charset="0"/>
              </a:rPr>
              <a:t>Thank You  ·  AI-Powered Real Estate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1156</Words>
  <Application>Microsoft Office PowerPoint</Application>
  <PresentationFormat>On-screen Show (16:9)</PresentationFormat>
  <Paragraphs>309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2026-06-25T12:16:34Z</dcterms:modified>
  <cp:category/>
</cp:coreProperties>
</file>